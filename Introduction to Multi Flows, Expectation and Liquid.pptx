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0FC4C7-2C98-420D-B6DC-CD4284E9C4C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F53B08-2F47-431A-BCA4-66104F13F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070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clustering: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Data files are scattered randomly by Date and Customer Id. This means queries must scan all files, even for a single customer or date. Small files exist for low-volume customers (D, E), while high-volume Customer C has larger files. There is no grouping — so performance is poor.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F53B08-2F47-431A-BCA4-66104F13FDB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300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9F761-136D-D876-57D5-48559814E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0A39C4-FBCC-1E58-1213-E700E0BC2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EF46F-12A9-1B7D-BD60-99549CE01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87157-E188-4B0F-B6F2-E09DB45B6D5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C1F28-7BDD-69C4-F31A-4EF74EA8F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27333-0740-D76A-D357-A33C2D9B2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8F67E-C8CA-4B5B-9F0A-429B9F40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96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21155-2C50-6BFF-695B-FD1740BA6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1E2D1-417C-9E4C-F6F3-E4D4E13C8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475F5-B6F8-67E8-442F-750D0811E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87157-E188-4B0F-B6F2-E09DB45B6D5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7BA8D-2FF8-7571-8BC9-3310EEF29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06663-EA2E-7511-0933-5E669711D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8F67E-C8CA-4B5B-9F0A-429B9F40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358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7758-11CA-267B-6426-D071891F1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B2EB5-2ED9-73B3-DBD1-EDF21BC36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D590A-7D8F-E8C4-6401-582261779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87157-E188-4B0F-B6F2-E09DB45B6D5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8385E-A153-35B5-4546-668DB9719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7962B-2C66-9A0C-6BF9-41B3CCE98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8F67E-C8CA-4B5B-9F0A-429B9F40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184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77A38-BCEC-5A64-18BB-0831C5CF0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FC0C2-0F22-3416-FFEA-1881977AA5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BA8E5-0EB5-F132-9CEC-55429EAAD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09621E-6370-5149-E12F-FB5FE64F0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87157-E188-4B0F-B6F2-E09DB45B6D5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0EF7A-5FCF-007F-CD61-69F4B7DA3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1765B5-6427-F830-798E-878145EF5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8F67E-C8CA-4B5B-9F0A-429B9F40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39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81E55-C7C5-AEBA-A2FF-7540E27F9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5CF9E-F0F3-5330-BE08-43DBFE924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0466A0-4544-7C18-A011-6C592256E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B94997-27DE-DB3F-E4AA-6821B5390D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993095-B9A6-E5DC-4D78-66BD53FDAE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6AC37D-A55E-6031-9800-A9B80D568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87157-E188-4B0F-B6F2-E09DB45B6D5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1162EC-356D-8D74-7602-D8CDBCF7E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BF881E-0C82-5C4F-EBAA-B2568B6A6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8F67E-C8CA-4B5B-9F0A-429B9F40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81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E945B-B18C-7F32-5683-5E0ED29EC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B65859-6695-E313-F16A-EB676F0AB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87157-E188-4B0F-B6F2-E09DB45B6D5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8BCFAA-4C26-2091-8F26-817E5CE59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1BF960-2213-6C77-4DB3-F167B6E0F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8F67E-C8CA-4B5B-9F0A-429B9F40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634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4D1889-1459-B73C-A943-FF43FC7EA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87157-E188-4B0F-B6F2-E09DB45B6D5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E5D3DA-288E-27D5-E2A7-4CFDDDB50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9A91A9-6E22-6CC8-FAD1-0AC73ECB3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8F67E-C8CA-4B5B-9F0A-429B9F40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802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9FECC-D2AD-0186-A807-089158857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D80E6-6B64-A2D9-3877-C4E352D2B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C0E392-76D7-97D4-B4AC-C270AF4C0F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64A60-2B48-52C7-0DB1-BBDD33B47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87157-E188-4B0F-B6F2-E09DB45B6D5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49DF26-E44A-0940-8723-E5CA894D4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F3D73B-A05B-A32D-DD1F-878283680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8F67E-C8CA-4B5B-9F0A-429B9F40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353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95369-0A42-D809-8982-FE5DE6196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B0870D-416B-9D04-674E-FAC3823790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6F72BD-A1D4-9FF4-D6EE-24074067B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BCD1B4-E23D-B78C-5141-C1F56C586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87157-E188-4B0F-B6F2-E09DB45B6D5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A75FD6-ED33-CFD4-6517-7A3606B18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E3096-27E4-A93A-C702-855863D03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8F67E-C8CA-4B5B-9F0A-429B9F40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697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FB70D-6A51-C881-7666-B0D544563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B54F63-DBB3-B90C-48CB-8B20D3FFA1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F8634-22EB-E6F4-D4C3-77712ED97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87157-E188-4B0F-B6F2-E09DB45B6D5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566B1-2A6F-567C-8329-9BA1F664C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66C94-60BB-2CC9-8A62-C6F845F4A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8F67E-C8CA-4B5B-9F0A-429B9F40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000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97F0A6-83E2-6032-7976-8300564FBE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48BF7F-3523-045A-140F-05C5907FB0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E72C4-497C-2383-ABC0-4464D4215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87157-E188-4B0F-B6F2-E09DB45B6D5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1650C-9702-87E2-F0E4-85955166F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99743-332B-4E56-3112-7A52B62B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8F67E-C8CA-4B5B-9F0A-429B9F40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709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43882E-15DD-3AB9-1B45-041992D97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A5309-3340-6CB6-5E9F-5B6F5F2EE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68A50-A1A4-3BB5-B621-A9314EBED2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87157-E188-4B0F-B6F2-E09DB45B6D5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77B19-A96F-2159-DBC2-0B3426E4EC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1E8D2-7304-CEF2-E10F-9009F4721D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58F67E-C8CA-4B5B-9F0A-429B9F40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908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F79D2-1869-BFE4-D6E9-B77D1769C0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20535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 to Multi Flows, Expectation and Liquid Clustering in SDP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41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61FFD-562B-7EA6-33B6-DBE665E15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3CC89-5FA6-A630-2F95-3242167F4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Explain what a </a:t>
            </a:r>
            <a:r>
              <a:rPr lang="en-US" b="1" dirty="0"/>
              <a:t>flow</a:t>
            </a:r>
            <a:r>
              <a:rPr lang="en-US" dirty="0"/>
              <a:t> is and how it relates to a streaming table or materialized view</a:t>
            </a:r>
          </a:p>
          <a:p>
            <a:r>
              <a:rPr lang="en-US" dirty="0"/>
              <a:t>Describe the difference between a </a:t>
            </a:r>
            <a:r>
              <a:rPr lang="en-US" b="1" dirty="0"/>
              <a:t>default flow</a:t>
            </a:r>
            <a:r>
              <a:rPr lang="en-US" dirty="0"/>
              <a:t> and an </a:t>
            </a:r>
            <a:r>
              <a:rPr lang="en-US" b="1" dirty="0"/>
              <a:t>explicit flow</a:t>
            </a:r>
            <a:endParaRPr lang="en-US" dirty="0"/>
          </a:p>
          <a:p>
            <a:r>
              <a:rPr lang="en-US" dirty="0"/>
              <a:t>Apply the </a:t>
            </a:r>
            <a:r>
              <a:rPr lang="en-US" b="1" dirty="0"/>
              <a:t>multi-flow pattern</a:t>
            </a:r>
            <a:r>
              <a:rPr lang="en-US" dirty="0"/>
              <a:t> to write from multiple sources into a single target table</a:t>
            </a:r>
          </a:p>
          <a:p>
            <a:r>
              <a:rPr lang="en-US" dirty="0"/>
              <a:t>Explain why </a:t>
            </a:r>
            <a:r>
              <a:rPr lang="en-US" b="1" dirty="0"/>
              <a:t>multi-flow is preferred over UNION</a:t>
            </a:r>
            <a:r>
              <a:rPr lang="en-US" dirty="0"/>
              <a:t> for incremental pipelines</a:t>
            </a:r>
          </a:p>
          <a:p>
            <a:r>
              <a:rPr lang="en-US" dirty="0"/>
              <a:t>Recall how </a:t>
            </a:r>
            <a:r>
              <a:rPr lang="en-US" b="1" dirty="0"/>
              <a:t>Liquid Clustering</a:t>
            </a:r>
            <a:r>
              <a:rPr lang="en-US" dirty="0"/>
              <a:t> and </a:t>
            </a:r>
            <a:r>
              <a:rPr lang="en-US" b="1" dirty="0"/>
              <a:t>Data Quality Expectations</a:t>
            </a:r>
            <a:r>
              <a:rPr lang="en-US" dirty="0"/>
              <a:t> are configured in Spark Declarative Pipelines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609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739FD-4984-7130-6700-B8DA0C279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8"/>
            <a:ext cx="11811000" cy="1325563"/>
          </a:xfrm>
        </p:spPr>
        <p:txBody>
          <a:bodyPr>
            <a:normAutofit/>
          </a:bodyPr>
          <a:lstStyle/>
          <a:p>
            <a:r>
              <a:rPr lang="en-US" dirty="0"/>
              <a:t>Understanding Flows in Spark Declarative Pipelines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500CC-C2BE-C701-85E0-0ED3D2ECF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is Flow?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Flow = Query + Target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056215-EA91-0CA2-3779-CA58A9CBB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123" y="3620807"/>
            <a:ext cx="6883754" cy="207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204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063E8-54A1-E3FF-AB00-79C5378D1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57" y="130629"/>
            <a:ext cx="10515600" cy="6596742"/>
          </a:xfrm>
        </p:spPr>
        <p:txBody>
          <a:bodyPr>
            <a:normAutofit/>
          </a:bodyPr>
          <a:lstStyle/>
          <a:p>
            <a:r>
              <a:rPr lang="en-US" dirty="0"/>
              <a:t>Flow</a:t>
            </a:r>
          </a:p>
          <a:p>
            <a:pPr marL="0" indent="0">
              <a:buNone/>
            </a:pPr>
            <a:r>
              <a:rPr lang="en-US" dirty="0"/>
              <a:t>A </a:t>
            </a:r>
            <a:r>
              <a:rPr lang="en-US" b="1" dirty="0"/>
              <a:t>flow</a:t>
            </a:r>
            <a:r>
              <a:rPr lang="en-US" dirty="0"/>
              <a:t> is the basic unit of work in a Spark Declarative Pipeline. Each flow independently reads, processes, and writes data, enabling modular and reliable pipeline updates.</a:t>
            </a:r>
          </a:p>
          <a:p>
            <a:r>
              <a:rPr lang="en-US" dirty="0"/>
              <a:t>Query</a:t>
            </a:r>
          </a:p>
          <a:p>
            <a:pPr marL="0" indent="0">
              <a:buNone/>
            </a:pPr>
            <a:r>
              <a:rPr lang="en-US" dirty="0"/>
              <a:t>The </a:t>
            </a:r>
            <a:r>
              <a:rPr lang="en-US" b="1" dirty="0"/>
              <a:t>Query</a:t>
            </a:r>
            <a:r>
              <a:rPr lang="en-US" dirty="0"/>
              <a:t> defines </a:t>
            </a:r>
            <a:r>
              <a:rPr lang="en-US" i="1" dirty="0"/>
              <a:t>what data to read</a:t>
            </a:r>
            <a:r>
              <a:rPr lang="en-US" dirty="0"/>
              <a:t> and how to transform it — this is your SQL or </a:t>
            </a:r>
            <a:r>
              <a:rPr lang="en-US" dirty="0" err="1"/>
              <a:t>DataFrame</a:t>
            </a:r>
            <a:r>
              <a:rPr lang="en-US" dirty="0"/>
              <a:t> logic, including filtering, joining, and aggregating.</a:t>
            </a:r>
          </a:p>
          <a:p>
            <a:r>
              <a:rPr lang="en-US" dirty="0"/>
              <a:t>Target</a:t>
            </a:r>
          </a:p>
          <a:p>
            <a:pPr marL="0" indent="0">
              <a:buNone/>
            </a:pPr>
            <a:r>
              <a:rPr lang="en-US" dirty="0"/>
              <a:t>The </a:t>
            </a:r>
            <a:r>
              <a:rPr lang="en-US" b="1" dirty="0"/>
              <a:t>Target</a:t>
            </a:r>
            <a:r>
              <a:rPr lang="en-US" dirty="0"/>
              <a:t> defines </a:t>
            </a:r>
            <a:r>
              <a:rPr lang="en-US" i="1" dirty="0"/>
              <a:t>where the results land</a:t>
            </a:r>
            <a:r>
              <a:rPr lang="en-US" dirty="0"/>
              <a:t> — either a </a:t>
            </a:r>
            <a:r>
              <a:rPr lang="en-US" b="1" dirty="0"/>
              <a:t>Streaming Table</a:t>
            </a:r>
            <a:r>
              <a:rPr lang="en-US" dirty="0"/>
              <a:t> for incremental ingestion or a </a:t>
            </a:r>
            <a:r>
              <a:rPr lang="en-US" b="1" dirty="0"/>
              <a:t>Materialized View</a:t>
            </a:r>
            <a:r>
              <a:rPr lang="en-US" dirty="0"/>
              <a:t> for computed or aggregated results.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103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82700-AEC0-EBD9-8604-F811109CE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/>
              <a:t>Flow Processing Modes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25080E-9E8A-886E-ECC6-1451E8DEB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58" y="922459"/>
            <a:ext cx="11283685" cy="555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300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0CF37-AAE7-096B-0352-A3B134655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Processing Modes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57506-9B9C-40C2-8C3D-834A77257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330"/>
            <a:ext cx="10515600" cy="560466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Incremental Mode</a:t>
            </a:r>
          </a:p>
          <a:p>
            <a:r>
              <a:rPr lang="en-US" dirty="0"/>
              <a:t>Processes </a:t>
            </a:r>
            <a:r>
              <a:rPr lang="en-US" b="1" dirty="0"/>
              <a:t>only new records</a:t>
            </a:r>
            <a:r>
              <a:rPr lang="en-US" dirty="0"/>
              <a:t> since the last pipeline run using a </a:t>
            </a:r>
            <a:r>
              <a:rPr lang="en-US" b="1" dirty="0"/>
              <a:t>checkpoint</a:t>
            </a:r>
            <a:r>
              <a:rPr lang="en-US" dirty="0"/>
              <a:t> stored per flow. This is highly efficient for large datasets and streaming sources — on restart, the flow resumes exactly where it left off without reprocessing historical data.</a:t>
            </a:r>
          </a:p>
          <a:p>
            <a:pPr marL="0" indent="0">
              <a:buNone/>
            </a:pPr>
            <a:r>
              <a:rPr lang="en-US" b="1" dirty="0"/>
              <a:t>When to use:</a:t>
            </a:r>
            <a:r>
              <a:rPr lang="en-US" dirty="0"/>
              <a:t> Ongoing ingestion from streaming sources like Kafka, Auto Loader, or any append-only table.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Full Refresh Mode</a:t>
            </a:r>
          </a:p>
          <a:p>
            <a:r>
              <a:rPr lang="en-US" dirty="0"/>
              <a:t>Reprocesses </a:t>
            </a:r>
            <a:r>
              <a:rPr lang="en-US" b="1" dirty="0"/>
              <a:t>all records from the source from scratch</a:t>
            </a:r>
            <a:r>
              <a:rPr lang="en-US" dirty="0"/>
              <a:t> — the existing checkpoint is discarded and the target table is fully overwritten. This is more expensive but necessary when business logic changes require recomputing historical data.</a:t>
            </a:r>
          </a:p>
          <a:p>
            <a:r>
              <a:rPr lang="en-US" b="1" dirty="0"/>
              <a:t>When to use:</a:t>
            </a:r>
            <a:r>
              <a:rPr lang="en-US" dirty="0"/>
              <a:t> After modifying transformation logic, fixing data quality issues, or when a clean slate is required.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819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304BB-2538-A78F-A341-6689ABA6A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85" y="18255"/>
            <a:ext cx="10515600" cy="1325563"/>
          </a:xfrm>
        </p:spPr>
        <p:txBody>
          <a:bodyPr/>
          <a:lstStyle/>
          <a:p>
            <a:r>
              <a:rPr lang="en-US" dirty="0"/>
              <a:t>Flow Lifecycle and Checkpoint Management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12798-688D-0A02-1BBC-53EAF1EF3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4" y="1422853"/>
            <a:ext cx="11941629" cy="4351338"/>
          </a:xfrm>
        </p:spPr>
        <p:txBody>
          <a:bodyPr/>
          <a:lstStyle/>
          <a:p>
            <a:r>
              <a:rPr lang="en-US" dirty="0"/>
              <a:t>Each flow maintains its own </a:t>
            </a:r>
            <a:r>
              <a:rPr lang="en-US" b="1" dirty="0"/>
              <a:t>checkpoint</a:t>
            </a:r>
            <a:r>
              <a:rPr lang="en-US" dirty="0"/>
              <a:t> that tracks exactly how far it has read from its source — enabling reliable restarts, independent progress, and failure isolation.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CDE347-9943-3F24-1379-046346BEC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87" y="3284252"/>
            <a:ext cx="11341683" cy="229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544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65988-C46B-5536-2E70-36DCB6D39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1" y="18255"/>
            <a:ext cx="10515600" cy="1325563"/>
          </a:xfrm>
        </p:spPr>
        <p:txBody>
          <a:bodyPr/>
          <a:lstStyle/>
          <a:p>
            <a:r>
              <a:rPr lang="en-US" dirty="0"/>
              <a:t>Four Key Rules of Checkpoint Management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686574-50C1-49C7-B580-819620C6D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1" y="1062194"/>
            <a:ext cx="11144823" cy="550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019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FF470-1781-DD49-F9B4-CB96B7CC8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/>
              <a:t> Default Flow vs. Explicit Flow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30202-CFA1-6646-2B78-C99AB264A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11800114" cy="4351338"/>
          </a:xfrm>
        </p:spPr>
        <p:txBody>
          <a:bodyPr/>
          <a:lstStyle/>
          <a:p>
            <a:r>
              <a:rPr lang="en-US" dirty="0"/>
              <a:t>Most of the time, a flow is created </a:t>
            </a:r>
            <a:r>
              <a:rPr lang="en-US" b="1" dirty="0"/>
              <a:t>automatically and implicitly</a:t>
            </a:r>
            <a:r>
              <a:rPr lang="en-US" dirty="0"/>
              <a:t> when you define a streaming table or materialized view. This is the </a:t>
            </a:r>
            <a:r>
              <a:rPr lang="en-US" b="1" dirty="0"/>
              <a:t>default flow</a:t>
            </a:r>
            <a:r>
              <a:rPr lang="en-US" dirty="0"/>
              <a:t> — it shares the name of its target table.</a:t>
            </a:r>
          </a:p>
          <a:p>
            <a:r>
              <a:rPr lang="en-US" dirty="0"/>
              <a:t>You can also create </a:t>
            </a:r>
            <a:r>
              <a:rPr lang="en-US" b="1" dirty="0"/>
              <a:t>explicit flows</a:t>
            </a:r>
            <a:r>
              <a:rPr lang="en-US" dirty="0"/>
              <a:t> separately from the table definition. This is required when you need to write to an existing table from a new source, or when multiple sources need to converge into one target.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918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D2BE99-4235-E17B-50DE-C8CF81FBA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664029"/>
            <a:ext cx="10905066" cy="438709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7943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35089-7457-17F4-F96C-593AFF121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/>
              <a:t>The Multi-Flow Pattern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DB845-9097-35DE-74FD-444638F57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331"/>
            <a:ext cx="10515600" cy="4351338"/>
          </a:xfrm>
        </p:spPr>
        <p:txBody>
          <a:bodyPr/>
          <a:lstStyle/>
          <a:p>
            <a:r>
              <a:rPr lang="en-US" dirty="0"/>
              <a:t>Writing Multiple Sources into One Target:</a:t>
            </a:r>
          </a:p>
          <a:p>
            <a:endParaRPr lang="en-US" dirty="0"/>
          </a:p>
          <a:p>
            <a:r>
              <a:rPr lang="en-US" dirty="0"/>
              <a:t>The power of explicit flows is that you can define </a:t>
            </a:r>
            <a:r>
              <a:rPr lang="en-US" b="1" dirty="0"/>
              <a:t>multiple flows targeting the same table</a:t>
            </a:r>
            <a:r>
              <a:rPr lang="en-US" dirty="0"/>
              <a:t>. Each flow independently reads from a different source and appends its records to the shared target.</a:t>
            </a:r>
          </a:p>
          <a:p>
            <a:r>
              <a:rPr lang="en-US" dirty="0"/>
              <a:t>This is the </a:t>
            </a:r>
            <a:r>
              <a:rPr lang="en-US" b="1" dirty="0"/>
              <a:t>multi-flow pattern</a:t>
            </a:r>
            <a:r>
              <a:rPr lang="en-US" dirty="0"/>
              <a:t> — it is the recommended approach when you need to consolidate data from several sources into a single unified table.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480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30BBB9-9C49-A800-E02E-59BA8E107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468" y="282452"/>
            <a:ext cx="8045863" cy="47690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286A42-50F2-407D-D8A0-532F56B82065}"/>
              </a:ext>
            </a:extLst>
          </p:cNvPr>
          <p:cNvSpPr txBox="1"/>
          <p:nvPr/>
        </p:nvSpPr>
        <p:spPr>
          <a:xfrm>
            <a:off x="925285" y="5449278"/>
            <a:ext cx="93943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B5E20"/>
                </a:solidFill>
                <a:effectLst/>
                <a:latin typeface="system-ui"/>
              </a:rPr>
              <a:t>Each flow has its </a:t>
            </a:r>
            <a:r>
              <a:rPr lang="en-US" b="1" i="0" dirty="0">
                <a:solidFill>
                  <a:srgbClr val="1B5E20"/>
                </a:solidFill>
                <a:effectLst/>
                <a:latin typeface="system-ui"/>
              </a:rPr>
              <a:t>own independent checkpoint</a:t>
            </a:r>
            <a:r>
              <a:rPr lang="en-US" b="0" i="0" dirty="0">
                <a:solidFill>
                  <a:srgbClr val="1B5E20"/>
                </a:solidFill>
                <a:effectLst/>
                <a:latin typeface="system-ui"/>
              </a:rPr>
              <a:t> — if a new source is added later, only that flow needs to backfill. The other flows are completely unaffected.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320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DB18C6-8B82-28F5-1C8C-7B499D547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 Multi-Flow vs. UNION — Why It Matters</a:t>
            </a:r>
            <a:b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4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6F9F07-3BBE-F8CF-1779-5F34A475D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02229"/>
            <a:ext cx="10512547" cy="486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7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E9086-8D12-387B-468E-09881E053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/>
              <a:t> Data Quality Expectations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FC26D-C9A3-1872-7F2F-F101F76DE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422854"/>
            <a:ext cx="11789229" cy="4351338"/>
          </a:xfrm>
        </p:spPr>
        <p:txBody>
          <a:bodyPr/>
          <a:lstStyle/>
          <a:p>
            <a:r>
              <a:rPr lang="en-US" dirty="0"/>
              <a:t>Data quality means making sure your pipeline only stores valid and reliable records. In Spark Declarative Pipelines, you use </a:t>
            </a:r>
            <a:r>
              <a:rPr lang="en-US" b="1" dirty="0"/>
              <a:t>expectations</a:t>
            </a:r>
            <a:r>
              <a:rPr lang="en-US" dirty="0"/>
              <a:t> to set simple rules directly on streaming tables. If a record breaks a rule, you can choose to warn, drop, or fail the update.</a:t>
            </a:r>
          </a:p>
          <a:p>
            <a:r>
              <a:rPr lang="en-US" dirty="0"/>
              <a:t>All flows writing to a table follow the same expectations, making it easy to monitor and enforce data quality.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314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F80C2-3552-3409-CC17-9133F6DEB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Defining Expectations on Streaming Tables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05226-3ED6-DE58-124E-2271839BD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331"/>
            <a:ext cx="11658600" cy="4351338"/>
          </a:xfrm>
        </p:spPr>
        <p:txBody>
          <a:bodyPr/>
          <a:lstStyle/>
          <a:p>
            <a:r>
              <a:rPr lang="en-US" dirty="0"/>
              <a:t>In Spark Declarative Pipelines, constraints are defined inline in the table's column definition block using CONSTRAINT ... EXPECT. There are three violation modes that control what happens when a record fails a rule: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7D3065-337E-2985-BAFA-03FF631C3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658753"/>
            <a:ext cx="10922561" cy="323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347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FDD0C-09B8-7819-C36F-404F48D46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Expectation Implementation Example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CD145-2720-A0F1-DFA5-CAA3FBB0E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057" y="879248"/>
            <a:ext cx="10515600" cy="590255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Here's a comprehensive example showing how to implement data quality expectations on a streaming table: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Data Quality Expectations Cannot Be Defined on a Flow</a:t>
            </a:r>
            <a:endParaRPr lang="en-US" dirty="0"/>
          </a:p>
          <a:p>
            <a:r>
              <a:rPr lang="en-US" dirty="0"/>
              <a:t>When using the multi-flow pattern, </a:t>
            </a:r>
            <a:r>
              <a:rPr lang="en-US" b="1" dirty="0"/>
              <a:t>quality constraints must be defined on the target table</a:t>
            </a:r>
            <a:r>
              <a:rPr lang="en-US" dirty="0"/>
              <a:t> — not inside the CREATE FLOW or @dp.append_flow definition. The table enforces quality rules centrally for all flows that write to it.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CREATE OR REFRESH STREAMING TABLE </a:t>
            </a:r>
            <a:r>
              <a:rPr lang="en-US" b="1" dirty="0" err="1"/>
              <a:t>streaming_table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  (</a:t>
            </a:r>
          </a:p>
          <a:p>
            <a:pPr marL="0" indent="0">
              <a:buNone/>
            </a:pPr>
            <a:r>
              <a:rPr lang="en-US" b="1" dirty="0"/>
              <a:t>    CONSTRAINT </a:t>
            </a:r>
            <a:r>
              <a:rPr lang="en-US" b="1" dirty="0" err="1"/>
              <a:t>valid_qty</a:t>
            </a:r>
            <a:r>
              <a:rPr lang="en-US" b="1" dirty="0"/>
              <a:t>        EXPECT (qty &gt;= 0)                     ON VIOLATION DROP ROW,</a:t>
            </a:r>
          </a:p>
          <a:p>
            <a:pPr marL="0" indent="0">
              <a:buNone/>
            </a:pPr>
            <a:r>
              <a:rPr lang="en-US" b="1" dirty="0"/>
              <a:t>    CONSTRAINT </a:t>
            </a:r>
            <a:r>
              <a:rPr lang="en-US" b="1" dirty="0" err="1"/>
              <a:t>valid_amount</a:t>
            </a:r>
            <a:r>
              <a:rPr lang="en-US" b="1" dirty="0"/>
              <a:t>     EXPECT (</a:t>
            </a:r>
            <a:r>
              <a:rPr lang="en-US" b="1" dirty="0" err="1"/>
              <a:t>total_amount</a:t>
            </a:r>
            <a:r>
              <a:rPr lang="en-US" b="1" dirty="0"/>
              <a:t> &gt;= 0)            ON VIOLATION DROP ROW,</a:t>
            </a:r>
          </a:p>
          <a:p>
            <a:pPr marL="0" indent="0">
              <a:buNone/>
            </a:pPr>
            <a:r>
              <a:rPr lang="en-US" b="1" dirty="0"/>
              <a:t>    CONSTRAINT </a:t>
            </a:r>
            <a:r>
              <a:rPr lang="en-US" b="1" dirty="0" err="1"/>
              <a:t>not_null_ts</a:t>
            </a:r>
            <a:r>
              <a:rPr lang="en-US" b="1" dirty="0"/>
              <a:t>      EXPECT (</a:t>
            </a:r>
            <a:r>
              <a:rPr lang="en-US" b="1" dirty="0" err="1"/>
              <a:t>order_timestamp</a:t>
            </a:r>
            <a:r>
              <a:rPr lang="en-US" b="1" dirty="0"/>
              <a:t> IS NOT NULL) ON VIOLATION FAIL UPDATE,</a:t>
            </a:r>
          </a:p>
          <a:p>
            <a:pPr marL="0" indent="0">
              <a:buNone/>
            </a:pPr>
            <a:r>
              <a:rPr lang="en-US" b="1" dirty="0"/>
              <a:t>    CONSTRAINT </a:t>
            </a:r>
            <a:r>
              <a:rPr lang="en-US" b="1" dirty="0" err="1"/>
              <a:t>valid_email</a:t>
            </a:r>
            <a:r>
              <a:rPr lang="en-US" b="1" dirty="0"/>
              <a:t>      EXPECT (</a:t>
            </a:r>
            <a:r>
              <a:rPr lang="en-US" b="1" dirty="0" err="1"/>
              <a:t>customer_email</a:t>
            </a:r>
            <a:r>
              <a:rPr lang="en-US" b="1" dirty="0"/>
              <a:t> RLIKE '^[^@]+@[^@]+\\.[^@]+$'),</a:t>
            </a:r>
          </a:p>
          <a:p>
            <a:pPr marL="0" indent="0">
              <a:buNone/>
            </a:pPr>
            <a:r>
              <a:rPr lang="en-US" b="1" dirty="0"/>
              <a:t>    CONSTRAINT </a:t>
            </a:r>
            <a:r>
              <a:rPr lang="en-US" b="1" dirty="0" err="1"/>
              <a:t>reasonable_qty</a:t>
            </a:r>
            <a:r>
              <a:rPr lang="en-US" b="1" dirty="0"/>
              <a:t>   EXPECT (qty &lt;= 1000)                 ON VIOLATION WARN</a:t>
            </a:r>
          </a:p>
          <a:p>
            <a:pPr marL="0" indent="0">
              <a:buNone/>
            </a:pPr>
            <a:r>
              <a:rPr lang="en-US" b="1" dirty="0"/>
              <a:t>  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290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F1D0F-D285-F9E1-80A6-0B75FE5F2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/>
              <a:t>Monitoring and Observability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22EA4-4F1C-4411-F7F4-2B798808D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914" y="1343818"/>
            <a:ext cx="10515600" cy="4351338"/>
          </a:xfrm>
        </p:spPr>
        <p:txBody>
          <a:bodyPr/>
          <a:lstStyle/>
          <a:p>
            <a:r>
              <a:rPr lang="en-US" dirty="0"/>
              <a:t>Data quality expectations automatically generate metrics accessible through two channels</a:t>
            </a:r>
          </a:p>
          <a:p>
            <a:r>
              <a:rPr lang="en-US" b="1" dirty="0"/>
              <a:t>Pipeline UI</a:t>
            </a:r>
            <a:r>
              <a:rPr lang="en-US" dirty="0"/>
              <a:t> for at-a-glance health</a:t>
            </a:r>
          </a:p>
          <a:p>
            <a:r>
              <a:rPr lang="en-US" b="1" dirty="0"/>
              <a:t>System tables</a:t>
            </a:r>
            <a:r>
              <a:rPr lang="en-US" dirty="0"/>
              <a:t> for deep programmatic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6632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712AB8-63E7-E586-FD21-7867119D1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6" y="620429"/>
            <a:ext cx="11345003" cy="551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17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09D36-6A45-E4A3-2375-F01ED3944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09059"/>
          </a:xfrm>
        </p:spPr>
        <p:txBody>
          <a:bodyPr/>
          <a:lstStyle/>
          <a:p>
            <a:r>
              <a:rPr lang="en-US" b="1" dirty="0"/>
              <a:t>System Tables and Event Logs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0241A-7A5D-1AF4-57E5-98C144221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53331"/>
            <a:ext cx="117348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pipeline event log records one row per flow update, capturing both throughput metrics and per-constraint expectation results. </a:t>
            </a:r>
          </a:p>
          <a:p>
            <a:r>
              <a:rPr lang="en-US" dirty="0"/>
              <a:t>You can query it directly to build custom monitoring dashboards or alert pipelines.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SELECT timestamp, </a:t>
            </a:r>
            <a:r>
              <a:rPr lang="en-US" dirty="0" err="1">
                <a:highlight>
                  <a:srgbClr val="FFFF00"/>
                </a:highlight>
              </a:rPr>
              <a:t>table_name</a:t>
            </a:r>
            <a:r>
              <a:rPr lang="en-US" dirty="0">
                <a:highlight>
                  <a:srgbClr val="FFFF00"/>
                </a:highlight>
              </a:rPr>
              <a:t>, </a:t>
            </a:r>
            <a:r>
              <a:rPr lang="en-US" dirty="0" err="1">
                <a:highlight>
                  <a:srgbClr val="FFFF00"/>
                </a:highlight>
              </a:rPr>
              <a:t>output_rows</a:t>
            </a:r>
            <a:r>
              <a:rPr lang="en-US" dirty="0">
                <a:highlight>
                  <a:srgbClr val="FFFF00"/>
                </a:highlight>
              </a:rPr>
              <a:t>,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       </a:t>
            </a:r>
            <a:r>
              <a:rPr lang="en-US" dirty="0" err="1">
                <a:highlight>
                  <a:srgbClr val="FFFF00"/>
                </a:highlight>
              </a:rPr>
              <a:t>data_quality.expectations</a:t>
            </a: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FROM </a:t>
            </a:r>
            <a:r>
              <a:rPr lang="en-US" dirty="0" err="1">
                <a:highlight>
                  <a:srgbClr val="FFFF00"/>
                </a:highlight>
              </a:rPr>
              <a:t>event_log</a:t>
            </a:r>
            <a:r>
              <a:rPr lang="en-US" dirty="0">
                <a:highlight>
                  <a:srgbClr val="FFFF00"/>
                </a:highlight>
              </a:rPr>
              <a:t>("</a:t>
            </a:r>
            <a:r>
              <a:rPr lang="en-US" dirty="0" err="1">
                <a:highlight>
                  <a:srgbClr val="FFFF00"/>
                </a:highlight>
              </a:rPr>
              <a:t>pipeline_id</a:t>
            </a:r>
            <a:r>
              <a:rPr lang="en-US" dirty="0">
                <a:highlight>
                  <a:srgbClr val="FFFF00"/>
                </a:highlight>
              </a:rPr>
              <a:t>")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WHERE </a:t>
            </a:r>
            <a:r>
              <a:rPr lang="en-US" dirty="0" err="1">
                <a:highlight>
                  <a:srgbClr val="FFFF00"/>
                </a:highlight>
              </a:rPr>
              <a:t>event_type</a:t>
            </a:r>
            <a:r>
              <a:rPr lang="en-US" dirty="0">
                <a:highlight>
                  <a:srgbClr val="FFFF00"/>
                </a:highlight>
              </a:rPr>
              <a:t> = '</a:t>
            </a:r>
            <a:r>
              <a:rPr lang="en-US" dirty="0" err="1">
                <a:highlight>
                  <a:srgbClr val="FFFF00"/>
                </a:highlight>
              </a:rPr>
              <a:t>flow_progress</a:t>
            </a:r>
            <a:r>
              <a:rPr lang="en-US" dirty="0">
                <a:highlight>
                  <a:srgbClr val="FFFF00"/>
                </a:highlight>
              </a:rPr>
              <a:t>'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  AND </a:t>
            </a:r>
            <a:r>
              <a:rPr lang="en-US" dirty="0" err="1">
                <a:highlight>
                  <a:srgbClr val="FFFF00"/>
                </a:highlight>
              </a:rPr>
              <a:t>data_quality.expectations</a:t>
            </a:r>
            <a:r>
              <a:rPr lang="en-US" dirty="0">
                <a:highlight>
                  <a:srgbClr val="FFFF00"/>
                </a:highlight>
              </a:rPr>
              <a:t> IS NOT NULL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ORDER BY timestamp DESC;</a:t>
            </a:r>
          </a:p>
        </p:txBody>
      </p:sp>
    </p:spTree>
    <p:extLst>
      <p:ext uri="{BB962C8B-B14F-4D97-AF65-F5344CB8AC3E}">
        <p14:creationId xmlns:p14="http://schemas.microsoft.com/office/powerpoint/2010/main" val="2994273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38CB2-29E3-287D-3CC9-F95FA60CE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Liquid Clustering in Spark Declarative Pipelines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821AB-A62E-01D6-A574-C78E9C2DF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342" y="1325563"/>
            <a:ext cx="11473543" cy="4351338"/>
          </a:xfrm>
        </p:spPr>
        <p:txBody>
          <a:bodyPr/>
          <a:lstStyle/>
          <a:p>
            <a:r>
              <a:rPr lang="en-US" dirty="0"/>
              <a:t>What is Liquid Clustering?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Liquid Clustering is a data layout optimization technique in Delta Lake that replaces </a:t>
            </a:r>
            <a:r>
              <a:rPr lang="en-US" b="1" dirty="0"/>
              <a:t>traditional Hive-style partitioning and Z-Ordering</a:t>
            </a:r>
            <a:r>
              <a:rPr lang="en-US" dirty="0"/>
              <a:t>. It organizes data files based on </a:t>
            </a:r>
            <a:r>
              <a:rPr lang="en-US" b="1" dirty="0"/>
              <a:t>clustering keys</a:t>
            </a:r>
            <a:r>
              <a:rPr lang="en-US" dirty="0"/>
              <a:t> to improve query performance through efficient data skipping.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832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F0587-283D-D3AE-C2D0-B895F0AAE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/>
              <a:t>How It Evolved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CCBF28-3F3E-24FE-FEB4-0FE49791D2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357" y="2150224"/>
            <a:ext cx="11593286" cy="272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6458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EC6F9-E073-9C35-B48E-53E6EB323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908972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Three Properties That Make Liquid Clustering Powerful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0BBA5C-5FB7-7EA2-9910-DC73C4D59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58" y="1403245"/>
            <a:ext cx="11766827" cy="533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0266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851EF-7C90-8AA2-942C-A29EAD586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/>
              <a:t>How Liquid Clustering Works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354A17-0E68-77EE-1905-EB75C9608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47" y="902063"/>
            <a:ext cx="10991110" cy="581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0737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A4EA4-E4BD-7CD4-4AF6-A709B0003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234057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 Applying Liquid Clustering to Streaming Tables in SDP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C9EB1-A078-A384-9D38-B5CD614A2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14" y="1139825"/>
            <a:ext cx="11974286" cy="4351338"/>
          </a:xfrm>
        </p:spPr>
        <p:txBody>
          <a:bodyPr/>
          <a:lstStyle/>
          <a:p>
            <a:r>
              <a:rPr lang="en-US" dirty="0"/>
              <a:t>In Spark Declarative Pipelines, it is enabled directly on the streaming table definition using the CLUSTER BY clause — no separate OPTIMIZE command is needed.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8E7754-2D26-5663-26BD-5FB480A9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233" y="2465388"/>
            <a:ext cx="11360734" cy="4000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8329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F63ED-FC36-99C5-9B2C-D925AD463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/>
              <a:t>Clustering Strategy Selection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160362-BEB1-6F4F-AC4F-6DDC3FB5EB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8970" y="990860"/>
            <a:ext cx="11419115" cy="5605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041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1122</Words>
  <Application>Microsoft Office PowerPoint</Application>
  <PresentationFormat>Widescreen</PresentationFormat>
  <Paragraphs>87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system-ui</vt:lpstr>
      <vt:lpstr>Office Theme</vt:lpstr>
      <vt:lpstr>Introduction to Multi Flows, Expectation and Liquid Clustering in SDP </vt:lpstr>
      <vt:lpstr>Learning Objectives </vt:lpstr>
      <vt:lpstr>Understanding Flows in Spark Declarative Pipelines </vt:lpstr>
      <vt:lpstr>PowerPoint Presentation</vt:lpstr>
      <vt:lpstr>Flow Processing Modes </vt:lpstr>
      <vt:lpstr>Processing Modes </vt:lpstr>
      <vt:lpstr>Flow Lifecycle and Checkpoint Management </vt:lpstr>
      <vt:lpstr>Four Key Rules of Checkpoint Management </vt:lpstr>
      <vt:lpstr> Default Flow vs. Explicit Flow </vt:lpstr>
      <vt:lpstr>PowerPoint Presentation</vt:lpstr>
      <vt:lpstr>The Multi-Flow Pattern </vt:lpstr>
      <vt:lpstr>PowerPoint Presentation</vt:lpstr>
      <vt:lpstr> Multi-Flow vs. UNION — Why It Matters </vt:lpstr>
      <vt:lpstr> Data Quality Expectations </vt:lpstr>
      <vt:lpstr>Defining Expectations on Streaming Tables </vt:lpstr>
      <vt:lpstr>Expectation Implementation Example </vt:lpstr>
      <vt:lpstr>Monitoring and Observability </vt:lpstr>
      <vt:lpstr>PowerPoint Presentation</vt:lpstr>
      <vt:lpstr>System Tables and Event Logs</vt:lpstr>
      <vt:lpstr>Liquid Clustering in Spark Declarative Pipelines </vt:lpstr>
      <vt:lpstr>How It Evolved </vt:lpstr>
      <vt:lpstr>Three Properties That Make Liquid Clustering Powerful </vt:lpstr>
      <vt:lpstr>How Liquid Clustering Works </vt:lpstr>
      <vt:lpstr> Applying Liquid Clustering to Streaming Tables in SDP </vt:lpstr>
      <vt:lpstr>Clustering Strategy Selection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1</cp:revision>
  <dcterms:created xsi:type="dcterms:W3CDTF">2026-04-01T10:48:05Z</dcterms:created>
  <dcterms:modified xsi:type="dcterms:W3CDTF">2026-04-01T11:29:20Z</dcterms:modified>
</cp:coreProperties>
</file>